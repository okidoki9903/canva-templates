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low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300">
                <a:solidFill>
                  <a:srgbClr val="FFFFFF"/>
                </a:solidFill>
                <a:latin typeface="Montserrat"/>
              </a:rPr>
              <a:t>CASA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spc="600">
                <a:solidFill>
                  <a:srgbClr val="C9D3EA"/>
                </a:solidFill>
                <a:latin typeface="Montserrat"/>
              </a:rPr>
              <a:t>PRESENTS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8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b="1" spc="300">
                <a:solidFill>
                  <a:srgbClr val="FFFFFF"/>
                </a:solidFill>
                <a:latin typeface="Montserrat"/>
              </a:rPr>
              <a:t>FRIENDS OF AFRICA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8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0" spc="600">
                <a:solidFill>
                  <a:srgbClr val="C9D3EA"/>
                </a:solidFill>
                <a:latin typeface="Montserrat"/>
              </a:rPr>
              <a:t>COALITION  · 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809750"/>
            <a:ext cx="8953500" cy="28575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31432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500">
                <a:solidFill>
                  <a:srgbClr val="E3A53B"/>
                </a:solidFill>
                <a:latin typeface="Montserrat"/>
              </a:rPr>
              <a:t>SCALING STRATEGIC AND GLOBAL PARTNERSHIPS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3619500"/>
            <a:ext cx="89535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16TH AFRICAN</a:t>
            </a:r>
          </a:p>
          <a:p>
            <a:pPr algn="l">
              <a:lnSpc>
                <a:spcPct val="100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ECONOMIC SUMMIT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" y="5143500"/>
            <a:ext cx="285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800">
                <a:solidFill>
                  <a:srgbClr val="C9D3EA"/>
                </a:solidFill>
                <a:latin typeface="Montserrat"/>
              </a:rPr>
              <a:t>CANADA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6750" y="7239000"/>
            <a:ext cx="1333500" cy="952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750" y="7620000"/>
            <a:ext cx="9144000" cy="400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7250" b="1">
                <a:solidFill>
                  <a:srgbClr val="E3A53B"/>
                </a:solidFill>
                <a:latin typeface="Montserrat"/>
              </a:rPr>
              <a:t>DAY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11715750"/>
            <a:ext cx="8953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>
                <a:solidFill>
                  <a:srgbClr val="FFFFFF"/>
                </a:solidFill>
                <a:latin typeface="Montserrat"/>
              </a:rPr>
              <a:t>Opening Day Highlights  ·  Tuesday, 30 September</a:t>
            </a:r>
          </a:p>
        </p:txBody>
      </p:sp>
      <p:sp>
        <p:nvSpPr>
          <p:cNvPr id="14" name="Diamond 13"/>
          <p:cNvSpPr/>
          <p:nvPr/>
        </p:nvSpPr>
        <p:spPr>
          <a:xfrm>
            <a:off x="666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5238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9810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14382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18954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23526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28098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32670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37242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41814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6386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50958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55530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60102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64674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69246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73818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78390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82962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87534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92106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96678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101250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66750" y="15430500"/>
            <a:ext cx="114300" cy="114300"/>
          </a:xfrm>
          <a:prstGeom prst="ellipse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2500" y="153352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30 SEPT – 03 OCT 2026</a:t>
            </a:r>
          </a:p>
        </p:txBody>
      </p:sp>
      <p:sp>
        <p:nvSpPr>
          <p:cNvPr id="39" name="Oval 38"/>
          <p:cNvSpPr/>
          <p:nvPr/>
        </p:nvSpPr>
        <p:spPr>
          <a:xfrm>
            <a:off x="666750" y="15925800"/>
            <a:ext cx="114300" cy="114300"/>
          </a:xfrm>
          <a:prstGeom prst="ellipse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2500" y="158305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spc="200">
                <a:solidFill>
                  <a:srgbClr val="C9D3EA"/>
                </a:solidFill>
                <a:latin typeface="Montserrat"/>
              </a:rPr>
              <a:t>METRO TORONTO CONVENTION CENTRE, TORONTO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6750" y="170497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spc="100">
                <a:solidFill>
                  <a:srgbClr val="C9D3EA"/>
                </a:solidFill>
                <a:latin typeface="Montserrat"/>
              </a:rPr>
              <a:t>#AES2026   #FriendsOfAfrica   @friendsofafricafoa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29600"/>
            <a:ext cx="10287000" cy="10058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E3A53B"/>
                </a:solidFill>
                <a:latin typeface="Montserrat"/>
              </a:rPr>
              <a:t>DAY 1 HIGHLIGHTS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3335000"/>
            <a:ext cx="152400" cy="23812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5375" y="13287375"/>
            <a:ext cx="8572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400">
                <a:solidFill>
                  <a:srgbClr val="E3A53B"/>
                </a:solidFill>
                <a:latin typeface="Montserrat"/>
              </a:rPr>
              <a:t>OPENING CEREMONY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375" y="13763625"/>
            <a:ext cx="85725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Montserrat"/>
              </a:rPr>
              <a:t>Add your headline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375" y="15240000"/>
            <a:ext cx="8572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>
                <a:solidFill>
                  <a:srgbClr val="C9D3EA"/>
                </a:solidFill>
                <a:latin typeface="Montserrat"/>
              </a:rPr>
              <a:t>Short description of this moment</a:t>
            </a:r>
          </a:p>
        </p:txBody>
      </p:sp>
      <p:sp>
        <p:nvSpPr>
          <p:cNvPr id="11" name="Diamond 10"/>
          <p:cNvSpPr/>
          <p:nvPr/>
        </p:nvSpPr>
        <p:spPr>
          <a:xfrm>
            <a:off x="571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4000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iamond 12"/>
          <p:cNvSpPr/>
          <p:nvPr/>
        </p:nvSpPr>
        <p:spPr>
          <a:xfrm>
            <a:off x="7429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amond 13"/>
          <p:cNvSpPr/>
          <p:nvPr/>
        </p:nvSpPr>
        <p:spPr>
          <a:xfrm>
            <a:off x="10858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14287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17716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21145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24574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28003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31432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34861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38290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41719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5148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48577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52006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55435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58864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62293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65722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69151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72580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76009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79438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82867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86296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89725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93154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96583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100012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103441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29600"/>
            <a:ext cx="10287000" cy="10058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E3A53B"/>
                </a:solidFill>
                <a:latin typeface="Montserrat"/>
              </a:rPr>
              <a:t>DAY 1 HIGHLIGHTS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" y="12668250"/>
            <a:ext cx="9144000" cy="4000500"/>
          </a:xfrm>
          <a:prstGeom prst="roundRect">
            <a:avLst>
              <a:gd name="adj" fmla="val 6000"/>
            </a:avLst>
          </a:prstGeom>
          <a:solidFill>
            <a:srgbClr val="0A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1500" y="12668250"/>
            <a:ext cx="9144000" cy="1333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3144500"/>
            <a:ext cx="8191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500">
                <a:solidFill>
                  <a:srgbClr val="E3A53B"/>
                </a:solidFill>
                <a:latin typeface="Montserrat"/>
              </a:rPr>
              <a:t>ON STAGE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" y="13620750"/>
            <a:ext cx="8191500" cy="1238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Montserrat"/>
              </a:rPr>
              <a:t>Speaker 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15049500"/>
            <a:ext cx="8191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C9D3EA"/>
                </a:solidFill>
                <a:latin typeface="Montserrat"/>
              </a:rPr>
              <a:t>Title, Organization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315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E3A53B"/>
                </a:solidFill>
                <a:latin typeface="Montserrat"/>
              </a:rPr>
              <a:t>DAY 1 HIGHLIGHTS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" y="2190750"/>
            <a:ext cx="1143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0" b="1">
                <a:solidFill>
                  <a:srgbClr val="E3A53B"/>
                </a:solidFill>
                <a:latin typeface="Georgia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3429000"/>
            <a:ext cx="895350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Add a key quote or highlight from Day 1 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6096000"/>
            <a:ext cx="8953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E3A53B"/>
                </a:solidFill>
                <a:latin typeface="Montserrat"/>
              </a:rPr>
              <a:t>— NAME, ORGANIZATION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low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300">
                <a:solidFill>
                  <a:srgbClr val="FFFFFF"/>
                </a:solidFill>
                <a:latin typeface="Montserrat"/>
              </a:rPr>
              <a:t>CASA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spc="600">
                <a:solidFill>
                  <a:srgbClr val="C9D3EA"/>
                </a:solidFill>
                <a:latin typeface="Montserrat"/>
              </a:rPr>
              <a:t>PRESENTS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8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b="1" spc="300">
                <a:solidFill>
                  <a:srgbClr val="FFFFFF"/>
                </a:solidFill>
                <a:latin typeface="Montserrat"/>
              </a:rPr>
              <a:t>FRIENDS OF AFRICA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8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0" spc="600">
                <a:solidFill>
                  <a:srgbClr val="C9D3EA"/>
                </a:solidFill>
                <a:latin typeface="Montserrat"/>
              </a:rPr>
              <a:t>COALITION  · 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809750"/>
            <a:ext cx="8953500" cy="28575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4000500"/>
            <a:ext cx="8953500" cy="314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THAT'S A</a:t>
            </a:r>
          </a:p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WRAP ON DAY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7239000"/>
            <a:ext cx="89535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50" b="1">
                <a:solidFill>
                  <a:srgbClr val="E3A53B"/>
                </a:solidFill>
                <a:latin typeface="Montserrat"/>
              </a:rPr>
              <a:t>See you tomorrow for Day 2!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6750" y="8858250"/>
            <a:ext cx="8953500" cy="28575"/>
          </a:xfrm>
          <a:prstGeom prst="rect">
            <a:avLst/>
          </a:prstGeom>
          <a:solidFill>
            <a:srgbClr val="C9D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6750" y="9429750"/>
            <a:ext cx="114300" cy="114300"/>
          </a:xfrm>
          <a:prstGeom prst="ellipse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93345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30 SEPT – 03 OCT 2026</a:t>
            </a:r>
          </a:p>
        </p:txBody>
      </p:sp>
      <p:sp>
        <p:nvSpPr>
          <p:cNvPr id="13" name="Oval 12"/>
          <p:cNvSpPr/>
          <p:nvPr/>
        </p:nvSpPr>
        <p:spPr>
          <a:xfrm>
            <a:off x="666750" y="9925050"/>
            <a:ext cx="114300" cy="114300"/>
          </a:xfrm>
          <a:prstGeom prst="ellipse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98298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spc="200">
                <a:solidFill>
                  <a:srgbClr val="C9D3EA"/>
                </a:solidFill>
                <a:latin typeface="Montserrat"/>
              </a:rPr>
              <a:t>METRO TORONTO CONVENTION CENTRE, TORONTO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750" y="10858500"/>
            <a:ext cx="8953500" cy="1428750"/>
          </a:xfrm>
          <a:prstGeom prst="roundRect">
            <a:avLst/>
          </a:prstGeom>
          <a:noFill/>
          <a:ln w="28575">
            <a:solidFill>
              <a:srgbClr val="E3A5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7750" y="11144250"/>
            <a:ext cx="8191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CONNECT.  COLLABORATE.  CREATE IMPACT.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" y="11668125"/>
            <a:ext cx="819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C9D3EA"/>
                </a:solidFill>
                <a:latin typeface="Montserrat"/>
              </a:rPr>
              <a:t>Register &amp; info: link in bio  ·  @friendsofafricafoa</a:t>
            </a:r>
          </a:p>
        </p:txBody>
      </p:sp>
      <p:sp>
        <p:nvSpPr>
          <p:cNvPr id="18" name="Diamond 17"/>
          <p:cNvSpPr/>
          <p:nvPr/>
        </p:nvSpPr>
        <p:spPr>
          <a:xfrm>
            <a:off x="571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4191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7810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11430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15049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18669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22288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25908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29527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33147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36766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40386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44005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47625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1244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54864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58483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62103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65722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69342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72961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76581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80200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83820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iamond 41"/>
          <p:cNvSpPr/>
          <p:nvPr/>
        </p:nvSpPr>
        <p:spPr>
          <a:xfrm>
            <a:off x="87439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iamond 42"/>
          <p:cNvSpPr/>
          <p:nvPr/>
        </p:nvSpPr>
        <p:spPr>
          <a:xfrm>
            <a:off x="91059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iamond 43"/>
          <p:cNvSpPr/>
          <p:nvPr/>
        </p:nvSpPr>
        <p:spPr>
          <a:xfrm>
            <a:off x="94678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iamond 44"/>
          <p:cNvSpPr/>
          <p:nvPr/>
        </p:nvSpPr>
        <p:spPr>
          <a:xfrm>
            <a:off x="98298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iamond 45"/>
          <p:cNvSpPr/>
          <p:nvPr/>
        </p:nvSpPr>
        <p:spPr>
          <a:xfrm>
            <a:off x="101917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6750" y="138112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spc="600">
                <a:solidFill>
                  <a:srgbClr val="E3A53B"/>
                </a:solidFill>
                <a:latin typeface="Montserrat"/>
              </a:rPr>
              <a:t>IN PARTNERSHIP WITH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71500" y="14382750"/>
            <a:ext cx="91440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2500" y="14668500"/>
            <a:ext cx="8382000" cy="1428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A1A3F"/>
                </a:solidFill>
                <a:latin typeface="Montserrat"/>
              </a:rPr>
              <a:t>Scotiabank  ·  Toronto Metropolitan University  ·  Carleton University  ·  City of Toronto  ·  Canada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6750" y="1695450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0" spc="100">
                <a:solidFill>
                  <a:srgbClr val="C9D3EA"/>
                </a:solidFill>
                <a:latin typeface="Montserrat"/>
              </a:rPr>
              <a:t>#AES2026   #FriendsOfAfrica   @friendsofafricafoa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AES 2026 – Day 1 (Video Template)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