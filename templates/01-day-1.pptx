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3143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500">
                <a:solidFill>
                  <a:srgbClr val="E3A53B"/>
                </a:solidFill>
                <a:latin typeface="Montserrat"/>
              </a:rPr>
              <a:t>SCALING STRATEGIC AND GLOBAL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619500"/>
            <a:ext cx="8953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16TH AFRICAN</a:t>
            </a:r>
          </a:p>
          <a:p>
            <a:pPr algn="l">
              <a:lnSpc>
                <a:spcPct val="100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ECONOMIC SUMMIT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51435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800">
                <a:solidFill>
                  <a:srgbClr val="C9D3EA"/>
                </a:solidFill>
                <a:latin typeface="Montserrat"/>
              </a:rPr>
              <a:t>CANADA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7239000"/>
            <a:ext cx="1333500" cy="952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7620000"/>
            <a:ext cx="9144000" cy="400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250" b="1">
                <a:solidFill>
                  <a:srgbClr val="E3A53B"/>
                </a:solidFill>
                <a:latin typeface="Montserrat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1715750"/>
            <a:ext cx="8953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FFFFFF"/>
                </a:solidFill>
                <a:latin typeface="Montserrat"/>
              </a:rPr>
              <a:t>Opening Day Highlights</a:t>
            </a:r>
          </a:p>
        </p:txBody>
      </p:sp>
      <p:sp>
        <p:nvSpPr>
          <p:cNvPr id="14" name="Diamond 13"/>
          <p:cNvSpPr/>
          <p:nvPr/>
        </p:nvSpPr>
        <p:spPr>
          <a:xfrm>
            <a:off x="66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523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981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4382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18954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3526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28098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2670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7242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814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638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50958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553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60102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64674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9246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73818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8390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82962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8753475" y="14097000"/>
            <a:ext cx="323850" cy="3238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92106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9667875" y="14097000"/>
            <a:ext cx="323850" cy="3238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10125075" y="14097000"/>
            <a:ext cx="323850" cy="3238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6750" y="1543050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500" y="15335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39" name="Oval 38"/>
          <p:cNvSpPr/>
          <p:nvPr/>
        </p:nvSpPr>
        <p:spPr>
          <a:xfrm>
            <a:off x="666750" y="1592580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500" y="158305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50" y="170497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DAY 1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3335000"/>
            <a:ext cx="152400" cy="23812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3287375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E3A53B"/>
                </a:solidFill>
                <a:latin typeface="Montserrat"/>
              </a:rPr>
              <a:t>OPENING CEREMONY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13763625"/>
            <a:ext cx="85725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Add your headline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152400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C9D3EA"/>
                </a:solidFill>
                <a:latin typeface="Montserrat"/>
              </a:rPr>
              <a:t>Short description of this moment</a:t>
            </a:r>
          </a:p>
        </p:txBody>
      </p:sp>
      <p:sp>
        <p:nvSpPr>
          <p:cNvPr id="11" name="Diamond 10"/>
          <p:cNvSpPr/>
          <p:nvPr/>
        </p:nvSpPr>
        <p:spPr>
          <a:xfrm>
            <a:off x="57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00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42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085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428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771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2114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2457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800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143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3486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8290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4171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45148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4857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2006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5543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8864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6229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65722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6915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72580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76009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9438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82867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86296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9725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9315450" y="17049750"/>
            <a:ext cx="228600" cy="22860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6583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10001250" y="17049750"/>
            <a:ext cx="228600" cy="22860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10344150" y="17049750"/>
            <a:ext cx="228600" cy="22860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0"/>
            <a:ext cx="10287000" cy="10058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DAY 1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668250"/>
            <a:ext cx="9144000" cy="4000500"/>
          </a:xfrm>
          <a:prstGeom prst="roundRect">
            <a:avLst>
              <a:gd name="adj" fmla="val 6000"/>
            </a:avLst>
          </a:prstGeom>
          <a:solidFill>
            <a:srgbClr val="0A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668250"/>
            <a:ext cx="9144000" cy="1333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314450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500">
                <a:solidFill>
                  <a:srgbClr val="E3A53B"/>
                </a:solidFill>
                <a:latin typeface="Montserrat"/>
              </a:rPr>
              <a:t>ON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13620750"/>
            <a:ext cx="8191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Speaker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15049500"/>
            <a:ext cx="8191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9D3EA"/>
                </a:solidFill>
                <a:latin typeface="Montserrat"/>
              </a:rPr>
              <a:t>Title,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deo-placeholder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7315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857250"/>
            <a:ext cx="190500" cy="666750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382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400">
                <a:solidFill>
                  <a:srgbClr val="FFFFFF"/>
                </a:solidFill>
                <a:latin typeface="Montserrat"/>
              </a:rPr>
              <a:t>AES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001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spc="400">
                <a:solidFill>
                  <a:srgbClr val="E3A53B"/>
                </a:solidFill>
                <a:latin typeface="Montserrat"/>
              </a:rPr>
              <a:t>DAY 1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190750"/>
            <a:ext cx="1143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>
                <a:solidFill>
                  <a:srgbClr val="E3A53B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429000"/>
            <a:ext cx="89535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350" b="1">
                <a:solidFill>
                  <a:srgbClr val="FFFFFF"/>
                </a:solidFill>
                <a:latin typeface="Montserrat"/>
              </a:rPr>
              <a:t>Add a key quote or highlight from Day 1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6096000"/>
            <a:ext cx="8953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E3A53B"/>
                </a:solidFill>
                <a:latin typeface="Montserrat"/>
              </a:rPr>
              <a:t>— NAME, ORGANIZATION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low-E3A5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300">
                <a:solidFill>
                  <a:srgbClr val="FFFFFF"/>
                </a:solidFill>
                <a:latin typeface="Montserrat"/>
              </a:rPr>
              <a:t>CASA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spc="600">
                <a:solidFill>
                  <a:srgbClr val="C9D3EA"/>
                </a:solidFill>
                <a:latin typeface="Montserrat"/>
              </a:rPr>
              <a:t>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857250"/>
            <a:ext cx="438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b="1" spc="300">
                <a:solidFill>
                  <a:srgbClr val="FFFFFF"/>
                </a:solidFill>
                <a:latin typeface="Montserrat"/>
              </a:rPr>
              <a:t>FRIENDS OF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0" y="1257300"/>
            <a:ext cx="438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0" spc="600">
                <a:solidFill>
                  <a:srgbClr val="C9D3EA"/>
                </a:solidFill>
                <a:latin typeface="Montserrat"/>
              </a:rPr>
              <a:t>COALITION  · 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1809750"/>
            <a:ext cx="8953500" cy="28575"/>
          </a:xfrm>
          <a:prstGeom prst="rect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4000500"/>
            <a:ext cx="8953500" cy="3143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THAT'S A</a:t>
            </a:r>
          </a:p>
          <a:p>
            <a:pPr algn="l">
              <a:lnSpc>
                <a:spcPct val="95000"/>
              </a:lnSpc>
            </a:pPr>
            <a:r>
              <a:rPr sz="9000" b="1">
                <a:solidFill>
                  <a:srgbClr val="FFFFFF"/>
                </a:solidFill>
                <a:latin typeface="Montserrat"/>
              </a:rPr>
              <a:t>WRAP ON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7239000"/>
            <a:ext cx="8953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>
                <a:solidFill>
                  <a:srgbClr val="E3A53B"/>
                </a:solidFill>
                <a:latin typeface="Montserrat"/>
              </a:rPr>
              <a:t>See you tomorrow for Day 2!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8858250"/>
            <a:ext cx="8953500" cy="28575"/>
          </a:xfrm>
          <a:prstGeom prst="rect">
            <a:avLst/>
          </a:prstGeom>
          <a:solidFill>
            <a:srgbClr val="C9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6750" y="942975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93345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13" name="Oval 12"/>
          <p:cNvSpPr/>
          <p:nvPr/>
        </p:nvSpPr>
        <p:spPr>
          <a:xfrm>
            <a:off x="666750" y="9925050"/>
            <a:ext cx="114300" cy="114300"/>
          </a:xfrm>
          <a:prstGeom prst="ellipse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982980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spc="200">
                <a:solidFill>
                  <a:srgbClr val="C9D3EA"/>
                </a:solidFill>
                <a:latin typeface="Montserrat"/>
              </a:rPr>
              <a:t>METRO TORONTO CONVENTION CENTRE, TORONTO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10858500"/>
            <a:ext cx="8953500" cy="1428750"/>
          </a:xfrm>
          <a:prstGeom prst="roundRect">
            <a:avLst/>
          </a:prstGeom>
          <a:noFill/>
          <a:ln w="28575">
            <a:solidFill>
              <a:srgbClr val="E3A5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750" y="11144250"/>
            <a:ext cx="8191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1" spc="200">
                <a:solidFill>
                  <a:srgbClr val="FFFFFF"/>
                </a:solidFill>
                <a:latin typeface="Montserrat"/>
              </a:rPr>
              <a:t>CONNECT.  COLLABORATE.  CREATE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11668125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3EA"/>
                </a:solidFill>
                <a:latin typeface="Montserrat"/>
              </a:rPr>
              <a:t>Register &amp; info: link in bio  ·  @friendsofafricafoa</a:t>
            </a:r>
          </a:p>
        </p:txBody>
      </p:sp>
      <p:sp>
        <p:nvSpPr>
          <p:cNvPr id="18" name="Diamond 17"/>
          <p:cNvSpPr/>
          <p:nvPr/>
        </p:nvSpPr>
        <p:spPr>
          <a:xfrm>
            <a:off x="571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19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810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143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15049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1866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22288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590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29527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3147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6766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0386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44005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47625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1244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mond 32"/>
          <p:cNvSpPr/>
          <p:nvPr/>
        </p:nvSpPr>
        <p:spPr>
          <a:xfrm>
            <a:off x="54864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58483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2103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65722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69342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72961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76581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80200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83820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87439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9105900" y="12954000"/>
            <a:ext cx="247650" cy="247650"/>
          </a:xfrm>
          <a:prstGeom prst="diamond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4678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iamond 44"/>
          <p:cNvSpPr/>
          <p:nvPr/>
        </p:nvSpPr>
        <p:spPr>
          <a:xfrm>
            <a:off x="9829800" y="12954000"/>
            <a:ext cx="247650" cy="247650"/>
          </a:xfrm>
          <a:prstGeom prst="diamond">
            <a:avLst/>
          </a:prstGeom>
          <a:noFill/>
          <a:ln w="28575">
            <a:solidFill>
              <a:srgbClr val="2E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iamond 45"/>
          <p:cNvSpPr/>
          <p:nvPr/>
        </p:nvSpPr>
        <p:spPr>
          <a:xfrm>
            <a:off x="10191750" y="12954000"/>
            <a:ext cx="247650" cy="247650"/>
          </a:xfrm>
          <a:prstGeom prst="diamond">
            <a:avLst/>
          </a:prstGeom>
          <a:solidFill>
            <a:srgbClr val="E3A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50" y="1381125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spc="600">
                <a:solidFill>
                  <a:srgbClr val="E3A53B"/>
                </a:solidFill>
                <a:latin typeface="Montserrat"/>
              </a:rPr>
              <a:t>IN PARTNERSHIP WITH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" y="14382750"/>
            <a:ext cx="9144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500" y="14668500"/>
            <a:ext cx="8382000" cy="1428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A1A3F"/>
                </a:solidFill>
                <a:latin typeface="Montserrat"/>
              </a:rPr>
              <a:t>Scotiabank  ·  Toronto Metropolitan University  ·  Carleton University  ·  City of Toronto  ·  Canada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750" y="16954500"/>
            <a:ext cx="8953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0" spc="100">
                <a:solidFill>
                  <a:srgbClr val="C9D3EA"/>
                </a:solidFill>
                <a:latin typeface="Montserrat"/>
              </a:rPr>
              <a:t>#AES2026   #FriendsOfAfrica   @friendsofafricafoa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 2026 – Day 1 (Video Template)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