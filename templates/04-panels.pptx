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low-3FA9F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6750" y="857250"/>
            <a:ext cx="4381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b="1" spc="300">
                <a:solidFill>
                  <a:srgbClr val="FFFFFF"/>
                </a:solidFill>
                <a:latin typeface="Montserrat"/>
              </a:rPr>
              <a:t>CASA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50" y="1257300"/>
            <a:ext cx="4381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spc="600">
                <a:solidFill>
                  <a:srgbClr val="C9D3EA"/>
                </a:solidFill>
                <a:latin typeface="Montserrat"/>
              </a:rPr>
              <a:t>PRESENTS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38750" y="857250"/>
            <a:ext cx="4381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50" b="1" spc="300">
                <a:solidFill>
                  <a:srgbClr val="FFFFFF"/>
                </a:solidFill>
                <a:latin typeface="Montserrat"/>
              </a:rPr>
              <a:t>FRIENDS OF AFRICA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38750" y="1257300"/>
            <a:ext cx="4381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0" spc="600">
                <a:solidFill>
                  <a:srgbClr val="C9D3EA"/>
                </a:solidFill>
                <a:latin typeface="Montserrat"/>
              </a:rPr>
              <a:t>COALITION  ·  CANADA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750" y="1809750"/>
            <a:ext cx="8953500" cy="28575"/>
          </a:xfrm>
          <a:prstGeom prst="rect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6750" y="3143250"/>
            <a:ext cx="8953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spc="500">
                <a:solidFill>
                  <a:srgbClr val="3FA9F5"/>
                </a:solidFill>
                <a:latin typeface="Montserrat"/>
              </a:rPr>
              <a:t>SCALING STRATEGIC AND GLOBAL PARTNERSHIPS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" y="3619500"/>
            <a:ext cx="89535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350" b="1">
                <a:solidFill>
                  <a:srgbClr val="FFFFFF"/>
                </a:solidFill>
                <a:latin typeface="Montserrat"/>
              </a:rPr>
              <a:t>16TH AFRICAN</a:t>
            </a:r>
          </a:p>
          <a:p>
            <a:pPr algn="l">
              <a:lnSpc>
                <a:spcPct val="100000"/>
              </a:lnSpc>
            </a:pPr>
            <a:r>
              <a:rPr sz="4350" b="1">
                <a:solidFill>
                  <a:srgbClr val="FFFFFF"/>
                </a:solidFill>
                <a:latin typeface="Montserrat"/>
              </a:rPr>
              <a:t>ECONOMIC SUMMIT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" y="5143500"/>
            <a:ext cx="2857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50" b="1" spc="800">
                <a:solidFill>
                  <a:srgbClr val="C9D3EA"/>
                </a:solidFill>
                <a:latin typeface="Montserrat"/>
              </a:rPr>
              <a:t>CANADA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6750" y="7239000"/>
            <a:ext cx="1333500" cy="95250"/>
          </a:xfrm>
          <a:prstGeom prst="rect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750" y="7620000"/>
            <a:ext cx="9144000" cy="400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750" b="1">
                <a:solidFill>
                  <a:srgbClr val="3FA9F5"/>
                </a:solidFill>
                <a:latin typeface="Montserrat"/>
              </a:rPr>
              <a:t>PANEL</a:t>
            </a:r>
          </a:p>
          <a:p>
            <a:pPr algn="l">
              <a:lnSpc>
                <a:spcPct val="95000"/>
              </a:lnSpc>
            </a:pPr>
            <a:r>
              <a:rPr sz="12750" b="1">
                <a:solidFill>
                  <a:srgbClr val="3FA9F5"/>
                </a:solidFill>
                <a:latin typeface="Montserrat"/>
              </a:rPr>
              <a:t>SESSIONS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50" y="11715750"/>
            <a:ext cx="8953500" cy="1333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0">
                <a:solidFill>
                  <a:srgbClr val="FFFFFF"/>
                </a:solidFill>
                <a:latin typeface="Montserrat"/>
              </a:rPr>
              <a:t>Panel topic goes here</a:t>
            </a:r>
          </a:p>
        </p:txBody>
      </p:sp>
      <p:sp>
        <p:nvSpPr>
          <p:cNvPr id="14" name="Diamond 13"/>
          <p:cNvSpPr/>
          <p:nvPr/>
        </p:nvSpPr>
        <p:spPr>
          <a:xfrm>
            <a:off x="66675" y="14097000"/>
            <a:ext cx="323850" cy="323850"/>
          </a:xfrm>
          <a:prstGeom prst="diamond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iamond 14"/>
          <p:cNvSpPr/>
          <p:nvPr/>
        </p:nvSpPr>
        <p:spPr>
          <a:xfrm>
            <a:off x="523875" y="14097000"/>
            <a:ext cx="323850" cy="32385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iamond 15"/>
          <p:cNvSpPr/>
          <p:nvPr/>
        </p:nvSpPr>
        <p:spPr>
          <a:xfrm>
            <a:off x="981075" y="14097000"/>
            <a:ext cx="323850" cy="323850"/>
          </a:xfrm>
          <a:prstGeom prst="diamond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iamond 16"/>
          <p:cNvSpPr/>
          <p:nvPr/>
        </p:nvSpPr>
        <p:spPr>
          <a:xfrm>
            <a:off x="1438275" y="14097000"/>
            <a:ext cx="323850" cy="323850"/>
          </a:xfrm>
          <a:prstGeom prst="diamond">
            <a:avLst/>
          </a:prstGeom>
          <a:noFill/>
          <a:ln w="28575">
            <a:solidFill>
              <a:srgbClr val="2E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1895475" y="14097000"/>
            <a:ext cx="323850" cy="323850"/>
          </a:xfrm>
          <a:prstGeom prst="diamond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2352675" y="14097000"/>
            <a:ext cx="323850" cy="32385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2809875" y="14097000"/>
            <a:ext cx="323850" cy="323850"/>
          </a:xfrm>
          <a:prstGeom prst="diamond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3267075" y="14097000"/>
            <a:ext cx="323850" cy="323850"/>
          </a:xfrm>
          <a:prstGeom prst="diamond">
            <a:avLst/>
          </a:prstGeom>
          <a:noFill/>
          <a:ln w="28575">
            <a:solidFill>
              <a:srgbClr val="2E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3724275" y="14097000"/>
            <a:ext cx="323850" cy="323850"/>
          </a:xfrm>
          <a:prstGeom prst="diamond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4181475" y="14097000"/>
            <a:ext cx="323850" cy="32385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4638675" y="14097000"/>
            <a:ext cx="323850" cy="323850"/>
          </a:xfrm>
          <a:prstGeom prst="diamond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iamond 24"/>
          <p:cNvSpPr/>
          <p:nvPr/>
        </p:nvSpPr>
        <p:spPr>
          <a:xfrm>
            <a:off x="5095875" y="14097000"/>
            <a:ext cx="323850" cy="323850"/>
          </a:xfrm>
          <a:prstGeom prst="diamond">
            <a:avLst/>
          </a:prstGeom>
          <a:noFill/>
          <a:ln w="28575">
            <a:solidFill>
              <a:srgbClr val="2E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5553075" y="14097000"/>
            <a:ext cx="323850" cy="323850"/>
          </a:xfrm>
          <a:prstGeom prst="diamond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iamond 26"/>
          <p:cNvSpPr/>
          <p:nvPr/>
        </p:nvSpPr>
        <p:spPr>
          <a:xfrm>
            <a:off x="6010275" y="14097000"/>
            <a:ext cx="323850" cy="32385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iamond 27"/>
          <p:cNvSpPr/>
          <p:nvPr/>
        </p:nvSpPr>
        <p:spPr>
          <a:xfrm>
            <a:off x="6467475" y="14097000"/>
            <a:ext cx="323850" cy="323850"/>
          </a:xfrm>
          <a:prstGeom prst="diamond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iamond 28"/>
          <p:cNvSpPr/>
          <p:nvPr/>
        </p:nvSpPr>
        <p:spPr>
          <a:xfrm>
            <a:off x="6924675" y="14097000"/>
            <a:ext cx="323850" cy="323850"/>
          </a:xfrm>
          <a:prstGeom prst="diamond">
            <a:avLst/>
          </a:prstGeom>
          <a:noFill/>
          <a:ln w="28575">
            <a:solidFill>
              <a:srgbClr val="2E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iamond 29"/>
          <p:cNvSpPr/>
          <p:nvPr/>
        </p:nvSpPr>
        <p:spPr>
          <a:xfrm>
            <a:off x="7381875" y="14097000"/>
            <a:ext cx="323850" cy="323850"/>
          </a:xfrm>
          <a:prstGeom prst="diamond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iamond 30"/>
          <p:cNvSpPr/>
          <p:nvPr/>
        </p:nvSpPr>
        <p:spPr>
          <a:xfrm>
            <a:off x="7839075" y="14097000"/>
            <a:ext cx="323850" cy="32385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8296275" y="14097000"/>
            <a:ext cx="323850" cy="323850"/>
          </a:xfrm>
          <a:prstGeom prst="diamond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iamond 32"/>
          <p:cNvSpPr/>
          <p:nvPr/>
        </p:nvSpPr>
        <p:spPr>
          <a:xfrm>
            <a:off x="8753475" y="14097000"/>
            <a:ext cx="323850" cy="323850"/>
          </a:xfrm>
          <a:prstGeom prst="diamond">
            <a:avLst/>
          </a:prstGeom>
          <a:noFill/>
          <a:ln w="28575">
            <a:solidFill>
              <a:srgbClr val="2E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iamond 33"/>
          <p:cNvSpPr/>
          <p:nvPr/>
        </p:nvSpPr>
        <p:spPr>
          <a:xfrm>
            <a:off x="9210675" y="14097000"/>
            <a:ext cx="323850" cy="323850"/>
          </a:xfrm>
          <a:prstGeom prst="diamond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iamond 34"/>
          <p:cNvSpPr/>
          <p:nvPr/>
        </p:nvSpPr>
        <p:spPr>
          <a:xfrm>
            <a:off x="9667875" y="14097000"/>
            <a:ext cx="323850" cy="32385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iamond 35"/>
          <p:cNvSpPr/>
          <p:nvPr/>
        </p:nvSpPr>
        <p:spPr>
          <a:xfrm>
            <a:off x="10125075" y="14097000"/>
            <a:ext cx="323850" cy="323850"/>
          </a:xfrm>
          <a:prstGeom prst="diamond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66750" y="15430500"/>
            <a:ext cx="114300" cy="114300"/>
          </a:xfrm>
          <a:prstGeom prst="ellipse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2500" y="15335250"/>
            <a:ext cx="8572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b="1" spc="200">
                <a:solidFill>
                  <a:srgbClr val="FFFFFF"/>
                </a:solidFill>
                <a:latin typeface="Montserrat"/>
              </a:rPr>
              <a:t>30 SEPT – 03 OCT 2026</a:t>
            </a:r>
          </a:p>
        </p:txBody>
      </p:sp>
      <p:sp>
        <p:nvSpPr>
          <p:cNvPr id="39" name="Oval 38"/>
          <p:cNvSpPr/>
          <p:nvPr/>
        </p:nvSpPr>
        <p:spPr>
          <a:xfrm>
            <a:off x="666750" y="15925800"/>
            <a:ext cx="114300" cy="114300"/>
          </a:xfrm>
          <a:prstGeom prst="ellipse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2500" y="15830550"/>
            <a:ext cx="8572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spc="200">
                <a:solidFill>
                  <a:srgbClr val="C9D3EA"/>
                </a:solidFill>
                <a:latin typeface="Montserrat"/>
              </a:rPr>
              <a:t>METRO TORONTO CONVENTION CENTRE, TORONTO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6750" y="17049750"/>
            <a:ext cx="8953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0" spc="100">
                <a:solidFill>
                  <a:srgbClr val="C9D3EA"/>
                </a:solidFill>
                <a:latin typeface="Montserrat"/>
              </a:rPr>
              <a:t>#AES2026   #FriendsOfAfrica   @friendsofafricafoa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deo-placeholder-3FA9F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fade-bott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229600"/>
            <a:ext cx="10287000" cy="100584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71500" y="857250"/>
            <a:ext cx="190500" cy="666750"/>
          </a:xfrm>
          <a:prstGeom prst="rect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38200"/>
            <a:ext cx="6667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b="1" spc="400">
                <a:solidFill>
                  <a:srgbClr val="FFFFFF"/>
                </a:solidFill>
                <a:latin typeface="Montserrat"/>
              </a:rPr>
              <a:t>AES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00150"/>
            <a:ext cx="6667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spc="400">
                <a:solidFill>
                  <a:srgbClr val="3FA9F5"/>
                </a:solidFill>
                <a:latin typeface="Montserrat"/>
              </a:rPr>
              <a:t>PANEL SESSION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750" y="13335000"/>
            <a:ext cx="152400" cy="2381250"/>
          </a:xfrm>
          <a:prstGeom prst="rect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5375" y="13287375"/>
            <a:ext cx="8572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spc="400">
                <a:solidFill>
                  <a:srgbClr val="3FA9F5"/>
                </a:solidFill>
                <a:latin typeface="Montserrat"/>
              </a:rPr>
              <a:t>PANEL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375" y="13763625"/>
            <a:ext cx="85725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FFFFFF"/>
                </a:solidFill>
                <a:latin typeface="Montserrat"/>
              </a:rPr>
              <a:t>Add the panel topic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375" y="15240000"/>
            <a:ext cx="8572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>
                <a:solidFill>
                  <a:srgbClr val="C9D3EA"/>
                </a:solidFill>
                <a:latin typeface="Montserrat"/>
              </a:rPr>
              <a:t>Moderated by Name, Organization</a:t>
            </a:r>
          </a:p>
        </p:txBody>
      </p:sp>
      <p:sp>
        <p:nvSpPr>
          <p:cNvPr id="11" name="Diamond 10"/>
          <p:cNvSpPr/>
          <p:nvPr/>
        </p:nvSpPr>
        <p:spPr>
          <a:xfrm>
            <a:off x="57150" y="17049750"/>
            <a:ext cx="228600" cy="228600"/>
          </a:xfrm>
          <a:prstGeom prst="diamond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iamond 11"/>
          <p:cNvSpPr/>
          <p:nvPr/>
        </p:nvSpPr>
        <p:spPr>
          <a:xfrm>
            <a:off x="400050" y="17049750"/>
            <a:ext cx="228600" cy="22860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iamond 12"/>
          <p:cNvSpPr/>
          <p:nvPr/>
        </p:nvSpPr>
        <p:spPr>
          <a:xfrm>
            <a:off x="742950" y="17049750"/>
            <a:ext cx="228600" cy="228600"/>
          </a:xfrm>
          <a:prstGeom prst="diamond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iamond 13"/>
          <p:cNvSpPr/>
          <p:nvPr/>
        </p:nvSpPr>
        <p:spPr>
          <a:xfrm>
            <a:off x="1085850" y="17049750"/>
            <a:ext cx="228600" cy="228600"/>
          </a:xfrm>
          <a:prstGeom prst="diamond">
            <a:avLst/>
          </a:prstGeom>
          <a:noFill/>
          <a:ln w="28575">
            <a:solidFill>
              <a:srgbClr val="2E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iamond 14"/>
          <p:cNvSpPr/>
          <p:nvPr/>
        </p:nvSpPr>
        <p:spPr>
          <a:xfrm>
            <a:off x="1428750" y="17049750"/>
            <a:ext cx="228600" cy="228600"/>
          </a:xfrm>
          <a:prstGeom prst="diamond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iamond 15"/>
          <p:cNvSpPr/>
          <p:nvPr/>
        </p:nvSpPr>
        <p:spPr>
          <a:xfrm>
            <a:off x="1771650" y="17049750"/>
            <a:ext cx="228600" cy="22860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iamond 16"/>
          <p:cNvSpPr/>
          <p:nvPr/>
        </p:nvSpPr>
        <p:spPr>
          <a:xfrm>
            <a:off x="2114550" y="17049750"/>
            <a:ext cx="228600" cy="228600"/>
          </a:xfrm>
          <a:prstGeom prst="diamond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2457450" y="17049750"/>
            <a:ext cx="228600" cy="228600"/>
          </a:xfrm>
          <a:prstGeom prst="diamond">
            <a:avLst/>
          </a:prstGeom>
          <a:noFill/>
          <a:ln w="28575">
            <a:solidFill>
              <a:srgbClr val="2E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2800350" y="17049750"/>
            <a:ext cx="228600" cy="228600"/>
          </a:xfrm>
          <a:prstGeom prst="diamond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3143250" y="17049750"/>
            <a:ext cx="228600" cy="22860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3486150" y="17049750"/>
            <a:ext cx="228600" cy="228600"/>
          </a:xfrm>
          <a:prstGeom prst="diamond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3829050" y="17049750"/>
            <a:ext cx="228600" cy="228600"/>
          </a:xfrm>
          <a:prstGeom prst="diamond">
            <a:avLst/>
          </a:prstGeom>
          <a:noFill/>
          <a:ln w="28575">
            <a:solidFill>
              <a:srgbClr val="2E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4171950" y="17049750"/>
            <a:ext cx="228600" cy="228600"/>
          </a:xfrm>
          <a:prstGeom prst="diamond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4514850" y="17049750"/>
            <a:ext cx="228600" cy="22860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iamond 24"/>
          <p:cNvSpPr/>
          <p:nvPr/>
        </p:nvSpPr>
        <p:spPr>
          <a:xfrm>
            <a:off x="4857750" y="17049750"/>
            <a:ext cx="228600" cy="228600"/>
          </a:xfrm>
          <a:prstGeom prst="diamond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5200650" y="17049750"/>
            <a:ext cx="228600" cy="228600"/>
          </a:xfrm>
          <a:prstGeom prst="diamond">
            <a:avLst/>
          </a:prstGeom>
          <a:noFill/>
          <a:ln w="28575">
            <a:solidFill>
              <a:srgbClr val="2E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iamond 26"/>
          <p:cNvSpPr/>
          <p:nvPr/>
        </p:nvSpPr>
        <p:spPr>
          <a:xfrm>
            <a:off x="5543550" y="17049750"/>
            <a:ext cx="228600" cy="228600"/>
          </a:xfrm>
          <a:prstGeom prst="diamond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iamond 27"/>
          <p:cNvSpPr/>
          <p:nvPr/>
        </p:nvSpPr>
        <p:spPr>
          <a:xfrm>
            <a:off x="5886450" y="17049750"/>
            <a:ext cx="228600" cy="22860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iamond 28"/>
          <p:cNvSpPr/>
          <p:nvPr/>
        </p:nvSpPr>
        <p:spPr>
          <a:xfrm>
            <a:off x="6229350" y="17049750"/>
            <a:ext cx="228600" cy="228600"/>
          </a:xfrm>
          <a:prstGeom prst="diamond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iamond 29"/>
          <p:cNvSpPr/>
          <p:nvPr/>
        </p:nvSpPr>
        <p:spPr>
          <a:xfrm>
            <a:off x="6572250" y="17049750"/>
            <a:ext cx="228600" cy="228600"/>
          </a:xfrm>
          <a:prstGeom prst="diamond">
            <a:avLst/>
          </a:prstGeom>
          <a:noFill/>
          <a:ln w="28575">
            <a:solidFill>
              <a:srgbClr val="2E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iamond 30"/>
          <p:cNvSpPr/>
          <p:nvPr/>
        </p:nvSpPr>
        <p:spPr>
          <a:xfrm>
            <a:off x="6915150" y="17049750"/>
            <a:ext cx="228600" cy="228600"/>
          </a:xfrm>
          <a:prstGeom prst="diamond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7258050" y="17049750"/>
            <a:ext cx="228600" cy="22860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iamond 32"/>
          <p:cNvSpPr/>
          <p:nvPr/>
        </p:nvSpPr>
        <p:spPr>
          <a:xfrm>
            <a:off x="7600950" y="17049750"/>
            <a:ext cx="228600" cy="228600"/>
          </a:xfrm>
          <a:prstGeom prst="diamond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iamond 33"/>
          <p:cNvSpPr/>
          <p:nvPr/>
        </p:nvSpPr>
        <p:spPr>
          <a:xfrm>
            <a:off x="7943850" y="17049750"/>
            <a:ext cx="228600" cy="228600"/>
          </a:xfrm>
          <a:prstGeom prst="diamond">
            <a:avLst/>
          </a:prstGeom>
          <a:noFill/>
          <a:ln w="28575">
            <a:solidFill>
              <a:srgbClr val="2E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iamond 34"/>
          <p:cNvSpPr/>
          <p:nvPr/>
        </p:nvSpPr>
        <p:spPr>
          <a:xfrm>
            <a:off x="8286750" y="17049750"/>
            <a:ext cx="228600" cy="228600"/>
          </a:xfrm>
          <a:prstGeom prst="diamond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iamond 35"/>
          <p:cNvSpPr/>
          <p:nvPr/>
        </p:nvSpPr>
        <p:spPr>
          <a:xfrm>
            <a:off x="8629650" y="17049750"/>
            <a:ext cx="228600" cy="22860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iamond 36"/>
          <p:cNvSpPr/>
          <p:nvPr/>
        </p:nvSpPr>
        <p:spPr>
          <a:xfrm>
            <a:off x="8972550" y="17049750"/>
            <a:ext cx="228600" cy="228600"/>
          </a:xfrm>
          <a:prstGeom prst="diamond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iamond 37"/>
          <p:cNvSpPr/>
          <p:nvPr/>
        </p:nvSpPr>
        <p:spPr>
          <a:xfrm>
            <a:off x="9315450" y="17049750"/>
            <a:ext cx="228600" cy="228600"/>
          </a:xfrm>
          <a:prstGeom prst="diamond">
            <a:avLst/>
          </a:prstGeom>
          <a:noFill/>
          <a:ln w="28575">
            <a:solidFill>
              <a:srgbClr val="2E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iamond 38"/>
          <p:cNvSpPr/>
          <p:nvPr/>
        </p:nvSpPr>
        <p:spPr>
          <a:xfrm>
            <a:off x="9658350" y="17049750"/>
            <a:ext cx="228600" cy="228600"/>
          </a:xfrm>
          <a:prstGeom prst="diamond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iamond 39"/>
          <p:cNvSpPr/>
          <p:nvPr/>
        </p:nvSpPr>
        <p:spPr>
          <a:xfrm>
            <a:off x="10001250" y="17049750"/>
            <a:ext cx="228600" cy="22860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iamond 40"/>
          <p:cNvSpPr/>
          <p:nvPr/>
        </p:nvSpPr>
        <p:spPr>
          <a:xfrm>
            <a:off x="10344150" y="17049750"/>
            <a:ext cx="228600" cy="228600"/>
          </a:xfrm>
          <a:prstGeom prst="diamond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deo-placeholder-3FA9F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fade-bott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229600"/>
            <a:ext cx="10287000" cy="100584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71500" y="857250"/>
            <a:ext cx="190500" cy="666750"/>
          </a:xfrm>
          <a:prstGeom prst="rect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38200"/>
            <a:ext cx="6667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b="1" spc="400">
                <a:solidFill>
                  <a:srgbClr val="FFFFFF"/>
                </a:solidFill>
                <a:latin typeface="Montserrat"/>
              </a:rPr>
              <a:t>AES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00150"/>
            <a:ext cx="6667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spc="400">
                <a:solidFill>
                  <a:srgbClr val="3FA9F5"/>
                </a:solidFill>
                <a:latin typeface="Montserrat"/>
              </a:rPr>
              <a:t>PANEL SESSION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12668250"/>
            <a:ext cx="9144000" cy="4000500"/>
          </a:xfrm>
          <a:prstGeom prst="roundRect">
            <a:avLst>
              <a:gd name="adj" fmla="val 6000"/>
            </a:avLst>
          </a:prstGeom>
          <a:solidFill>
            <a:srgbClr val="0A1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12668250"/>
            <a:ext cx="9144000" cy="133350"/>
          </a:xfrm>
          <a:prstGeom prst="rect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3144500"/>
            <a:ext cx="81915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spc="500">
                <a:solidFill>
                  <a:srgbClr val="3FA9F5"/>
                </a:solidFill>
                <a:latin typeface="Montserrat"/>
              </a:rPr>
              <a:t>PANELISTS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" y="13620750"/>
            <a:ext cx="8191500" cy="1238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FFFFFF"/>
                </a:solidFill>
                <a:latin typeface="Montserrat"/>
              </a:rPr>
              <a:t>Name 1  ·  Name 2  ·  Name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" y="15049500"/>
            <a:ext cx="8191500" cy="1333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C9D3EA"/>
                </a:solidFill>
                <a:latin typeface="Montserrat"/>
              </a:rPr>
              <a:t>Moderator: Name, Organization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deo-placeholder-3FA9F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fade-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7315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71500" y="857250"/>
            <a:ext cx="190500" cy="666750"/>
          </a:xfrm>
          <a:prstGeom prst="rect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38200"/>
            <a:ext cx="6667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b="1" spc="400">
                <a:solidFill>
                  <a:srgbClr val="FFFFFF"/>
                </a:solidFill>
                <a:latin typeface="Montserrat"/>
              </a:rPr>
              <a:t>AES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00150"/>
            <a:ext cx="6667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spc="400">
                <a:solidFill>
                  <a:srgbClr val="3FA9F5"/>
                </a:solidFill>
                <a:latin typeface="Montserrat"/>
              </a:rPr>
              <a:t>PANEL 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" y="2190750"/>
            <a:ext cx="11430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0" b="1">
                <a:solidFill>
                  <a:srgbClr val="3FA9F5"/>
                </a:solidFill>
                <a:latin typeface="Georgia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" y="3429000"/>
            <a:ext cx="8953500" cy="34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350" b="1">
                <a:solidFill>
                  <a:srgbClr val="FFFFFF"/>
                </a:solidFill>
                <a:latin typeface="Montserrat"/>
              </a:rPr>
              <a:t>Add a key takeaway from the panel 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" y="6096000"/>
            <a:ext cx="8953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b="1" spc="200">
                <a:solidFill>
                  <a:srgbClr val="3FA9F5"/>
                </a:solidFill>
                <a:latin typeface="Montserrat"/>
              </a:rPr>
              <a:t>— PANELIST NAME, ORGANIZATION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low-3FA9F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6750" y="857250"/>
            <a:ext cx="4381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b="1" spc="300">
                <a:solidFill>
                  <a:srgbClr val="FFFFFF"/>
                </a:solidFill>
                <a:latin typeface="Montserrat"/>
              </a:rPr>
              <a:t>CASA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50" y="1257300"/>
            <a:ext cx="4381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spc="600">
                <a:solidFill>
                  <a:srgbClr val="C9D3EA"/>
                </a:solidFill>
                <a:latin typeface="Montserrat"/>
              </a:rPr>
              <a:t>PRESENTS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38750" y="857250"/>
            <a:ext cx="4381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50" b="1" spc="300">
                <a:solidFill>
                  <a:srgbClr val="FFFFFF"/>
                </a:solidFill>
                <a:latin typeface="Montserrat"/>
              </a:rPr>
              <a:t>FRIENDS OF AFRICA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38750" y="1257300"/>
            <a:ext cx="4381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0" spc="600">
                <a:solidFill>
                  <a:srgbClr val="C9D3EA"/>
                </a:solidFill>
                <a:latin typeface="Montserrat"/>
              </a:rPr>
              <a:t>COALITION  ·  CANADA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750" y="1809750"/>
            <a:ext cx="8953500" cy="28575"/>
          </a:xfrm>
          <a:prstGeom prst="rect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6750" y="4000500"/>
            <a:ext cx="8953500" cy="3143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0" b="1">
                <a:solidFill>
                  <a:srgbClr val="FFFFFF"/>
                </a:solidFill>
                <a:latin typeface="Montserrat"/>
              </a:rPr>
              <a:t>THE</a:t>
            </a:r>
          </a:p>
          <a:p>
            <a:pPr algn="l">
              <a:lnSpc>
                <a:spcPct val="95000"/>
              </a:lnSpc>
            </a:pPr>
            <a:r>
              <a:rPr sz="9000" b="1">
                <a:solidFill>
                  <a:srgbClr val="FFFFFF"/>
                </a:solidFill>
                <a:latin typeface="Montserrat"/>
              </a:rPr>
              <a:t>CONVERSATION</a:t>
            </a:r>
          </a:p>
          <a:p>
            <a:pPr algn="l">
              <a:lnSpc>
                <a:spcPct val="95000"/>
              </a:lnSpc>
            </a:pPr>
            <a:r>
              <a:rPr sz="9000" b="1">
                <a:solidFill>
                  <a:srgbClr val="FFFFFF"/>
                </a:solidFill>
                <a:latin typeface="Montserrat"/>
              </a:rPr>
              <a:t>CONTINUES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" y="7239000"/>
            <a:ext cx="89535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50" b="1">
                <a:solidFill>
                  <a:srgbClr val="3FA9F5"/>
                </a:solidFill>
                <a:latin typeface="Montserrat"/>
              </a:rPr>
              <a:t>Join us at the next session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6750" y="8858250"/>
            <a:ext cx="8953500" cy="28575"/>
          </a:xfrm>
          <a:prstGeom prst="rect">
            <a:avLst/>
          </a:prstGeom>
          <a:solidFill>
            <a:srgbClr val="C9D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6750" y="9429750"/>
            <a:ext cx="114300" cy="114300"/>
          </a:xfrm>
          <a:prstGeom prst="ellipse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2500" y="9334500"/>
            <a:ext cx="8572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b="1" spc="200">
                <a:solidFill>
                  <a:srgbClr val="FFFFFF"/>
                </a:solidFill>
                <a:latin typeface="Montserrat"/>
              </a:rPr>
              <a:t>30 SEPT – 03 OCT 2026</a:t>
            </a:r>
          </a:p>
        </p:txBody>
      </p:sp>
      <p:sp>
        <p:nvSpPr>
          <p:cNvPr id="13" name="Oval 12"/>
          <p:cNvSpPr/>
          <p:nvPr/>
        </p:nvSpPr>
        <p:spPr>
          <a:xfrm>
            <a:off x="666750" y="9925050"/>
            <a:ext cx="114300" cy="114300"/>
          </a:xfrm>
          <a:prstGeom prst="ellipse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500" y="9829800"/>
            <a:ext cx="8572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spc="200">
                <a:solidFill>
                  <a:srgbClr val="C9D3EA"/>
                </a:solidFill>
                <a:latin typeface="Montserrat"/>
              </a:rPr>
              <a:t>METRO TORONTO CONVENTION CENTRE, TORONTO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750" y="10858500"/>
            <a:ext cx="8953500" cy="1428750"/>
          </a:xfrm>
          <a:prstGeom prst="roundRect">
            <a:avLst/>
          </a:prstGeom>
          <a:noFill/>
          <a:ln w="28575">
            <a:solidFill>
              <a:srgbClr val="3FA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7750" y="11144250"/>
            <a:ext cx="81915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b="1" spc="200">
                <a:solidFill>
                  <a:srgbClr val="FFFFFF"/>
                </a:solidFill>
                <a:latin typeface="Montserrat"/>
              </a:rPr>
              <a:t>CONNECT.  COLLABORATE.  CREATE IMPACT.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7750" y="11668125"/>
            <a:ext cx="8191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C9D3EA"/>
                </a:solidFill>
                <a:latin typeface="Montserrat"/>
              </a:rPr>
              <a:t>Register &amp; info: link in bio  ·  @friendsofafricafoa</a:t>
            </a:r>
          </a:p>
        </p:txBody>
      </p:sp>
      <p:sp>
        <p:nvSpPr>
          <p:cNvPr id="18" name="Diamond 17"/>
          <p:cNvSpPr/>
          <p:nvPr/>
        </p:nvSpPr>
        <p:spPr>
          <a:xfrm>
            <a:off x="57150" y="12954000"/>
            <a:ext cx="247650" cy="247650"/>
          </a:xfrm>
          <a:prstGeom prst="diamond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419100" y="12954000"/>
            <a:ext cx="247650" cy="24765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781050" y="12954000"/>
            <a:ext cx="247650" cy="247650"/>
          </a:xfrm>
          <a:prstGeom prst="diamond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1143000" y="12954000"/>
            <a:ext cx="247650" cy="247650"/>
          </a:xfrm>
          <a:prstGeom prst="diamond">
            <a:avLst/>
          </a:prstGeom>
          <a:noFill/>
          <a:ln w="28575">
            <a:solidFill>
              <a:srgbClr val="2E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1504950" y="12954000"/>
            <a:ext cx="247650" cy="247650"/>
          </a:xfrm>
          <a:prstGeom prst="diamond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1866900" y="12954000"/>
            <a:ext cx="247650" cy="24765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2228850" y="12954000"/>
            <a:ext cx="247650" cy="247650"/>
          </a:xfrm>
          <a:prstGeom prst="diamond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iamond 24"/>
          <p:cNvSpPr/>
          <p:nvPr/>
        </p:nvSpPr>
        <p:spPr>
          <a:xfrm>
            <a:off x="2590800" y="12954000"/>
            <a:ext cx="247650" cy="247650"/>
          </a:xfrm>
          <a:prstGeom prst="diamond">
            <a:avLst/>
          </a:prstGeom>
          <a:noFill/>
          <a:ln w="28575">
            <a:solidFill>
              <a:srgbClr val="2E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2952750" y="12954000"/>
            <a:ext cx="247650" cy="247650"/>
          </a:xfrm>
          <a:prstGeom prst="diamond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iamond 26"/>
          <p:cNvSpPr/>
          <p:nvPr/>
        </p:nvSpPr>
        <p:spPr>
          <a:xfrm>
            <a:off x="3314700" y="12954000"/>
            <a:ext cx="247650" cy="24765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iamond 27"/>
          <p:cNvSpPr/>
          <p:nvPr/>
        </p:nvSpPr>
        <p:spPr>
          <a:xfrm>
            <a:off x="3676650" y="12954000"/>
            <a:ext cx="247650" cy="247650"/>
          </a:xfrm>
          <a:prstGeom prst="diamond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iamond 28"/>
          <p:cNvSpPr/>
          <p:nvPr/>
        </p:nvSpPr>
        <p:spPr>
          <a:xfrm>
            <a:off x="4038600" y="12954000"/>
            <a:ext cx="247650" cy="247650"/>
          </a:xfrm>
          <a:prstGeom prst="diamond">
            <a:avLst/>
          </a:prstGeom>
          <a:noFill/>
          <a:ln w="28575">
            <a:solidFill>
              <a:srgbClr val="2E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iamond 29"/>
          <p:cNvSpPr/>
          <p:nvPr/>
        </p:nvSpPr>
        <p:spPr>
          <a:xfrm>
            <a:off x="4400550" y="12954000"/>
            <a:ext cx="247650" cy="247650"/>
          </a:xfrm>
          <a:prstGeom prst="diamond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iamond 30"/>
          <p:cNvSpPr/>
          <p:nvPr/>
        </p:nvSpPr>
        <p:spPr>
          <a:xfrm>
            <a:off x="4762500" y="12954000"/>
            <a:ext cx="247650" cy="24765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5124450" y="12954000"/>
            <a:ext cx="247650" cy="247650"/>
          </a:xfrm>
          <a:prstGeom prst="diamond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iamond 32"/>
          <p:cNvSpPr/>
          <p:nvPr/>
        </p:nvSpPr>
        <p:spPr>
          <a:xfrm>
            <a:off x="5486400" y="12954000"/>
            <a:ext cx="247650" cy="247650"/>
          </a:xfrm>
          <a:prstGeom prst="diamond">
            <a:avLst/>
          </a:prstGeom>
          <a:noFill/>
          <a:ln w="28575">
            <a:solidFill>
              <a:srgbClr val="2E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iamond 33"/>
          <p:cNvSpPr/>
          <p:nvPr/>
        </p:nvSpPr>
        <p:spPr>
          <a:xfrm>
            <a:off x="5848350" y="12954000"/>
            <a:ext cx="247650" cy="247650"/>
          </a:xfrm>
          <a:prstGeom prst="diamond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iamond 34"/>
          <p:cNvSpPr/>
          <p:nvPr/>
        </p:nvSpPr>
        <p:spPr>
          <a:xfrm>
            <a:off x="6210300" y="12954000"/>
            <a:ext cx="247650" cy="24765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iamond 35"/>
          <p:cNvSpPr/>
          <p:nvPr/>
        </p:nvSpPr>
        <p:spPr>
          <a:xfrm>
            <a:off x="6572250" y="12954000"/>
            <a:ext cx="247650" cy="247650"/>
          </a:xfrm>
          <a:prstGeom prst="diamond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iamond 36"/>
          <p:cNvSpPr/>
          <p:nvPr/>
        </p:nvSpPr>
        <p:spPr>
          <a:xfrm>
            <a:off x="6934200" y="12954000"/>
            <a:ext cx="247650" cy="247650"/>
          </a:xfrm>
          <a:prstGeom prst="diamond">
            <a:avLst/>
          </a:prstGeom>
          <a:noFill/>
          <a:ln w="28575">
            <a:solidFill>
              <a:srgbClr val="2E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iamond 37"/>
          <p:cNvSpPr/>
          <p:nvPr/>
        </p:nvSpPr>
        <p:spPr>
          <a:xfrm>
            <a:off x="7296150" y="12954000"/>
            <a:ext cx="247650" cy="247650"/>
          </a:xfrm>
          <a:prstGeom prst="diamond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iamond 38"/>
          <p:cNvSpPr/>
          <p:nvPr/>
        </p:nvSpPr>
        <p:spPr>
          <a:xfrm>
            <a:off x="7658100" y="12954000"/>
            <a:ext cx="247650" cy="24765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iamond 39"/>
          <p:cNvSpPr/>
          <p:nvPr/>
        </p:nvSpPr>
        <p:spPr>
          <a:xfrm>
            <a:off x="8020050" y="12954000"/>
            <a:ext cx="247650" cy="247650"/>
          </a:xfrm>
          <a:prstGeom prst="diamond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iamond 40"/>
          <p:cNvSpPr/>
          <p:nvPr/>
        </p:nvSpPr>
        <p:spPr>
          <a:xfrm>
            <a:off x="8382000" y="12954000"/>
            <a:ext cx="247650" cy="247650"/>
          </a:xfrm>
          <a:prstGeom prst="diamond">
            <a:avLst/>
          </a:prstGeom>
          <a:noFill/>
          <a:ln w="28575">
            <a:solidFill>
              <a:srgbClr val="2E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iamond 41"/>
          <p:cNvSpPr/>
          <p:nvPr/>
        </p:nvSpPr>
        <p:spPr>
          <a:xfrm>
            <a:off x="8743950" y="12954000"/>
            <a:ext cx="247650" cy="247650"/>
          </a:xfrm>
          <a:prstGeom prst="diamond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iamond 42"/>
          <p:cNvSpPr/>
          <p:nvPr/>
        </p:nvSpPr>
        <p:spPr>
          <a:xfrm>
            <a:off x="9105900" y="12954000"/>
            <a:ext cx="247650" cy="24765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iamond 43"/>
          <p:cNvSpPr/>
          <p:nvPr/>
        </p:nvSpPr>
        <p:spPr>
          <a:xfrm>
            <a:off x="9467850" y="12954000"/>
            <a:ext cx="247650" cy="247650"/>
          </a:xfrm>
          <a:prstGeom prst="diamond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iamond 44"/>
          <p:cNvSpPr/>
          <p:nvPr/>
        </p:nvSpPr>
        <p:spPr>
          <a:xfrm>
            <a:off x="9829800" y="12954000"/>
            <a:ext cx="247650" cy="247650"/>
          </a:xfrm>
          <a:prstGeom prst="diamond">
            <a:avLst/>
          </a:prstGeom>
          <a:noFill/>
          <a:ln w="28575">
            <a:solidFill>
              <a:srgbClr val="2E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iamond 45"/>
          <p:cNvSpPr/>
          <p:nvPr/>
        </p:nvSpPr>
        <p:spPr>
          <a:xfrm>
            <a:off x="10191750" y="12954000"/>
            <a:ext cx="247650" cy="247650"/>
          </a:xfrm>
          <a:prstGeom prst="diamond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6750" y="13811250"/>
            <a:ext cx="8953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50" b="1" spc="600">
                <a:solidFill>
                  <a:srgbClr val="3FA9F5"/>
                </a:solidFill>
                <a:latin typeface="Montserrat"/>
              </a:rPr>
              <a:t>IN PARTNERSHIP WITH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71500" y="14382750"/>
            <a:ext cx="91440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2500" y="14668500"/>
            <a:ext cx="8382000" cy="1428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100" b="1">
                <a:solidFill>
                  <a:srgbClr val="0A1A3F"/>
                </a:solidFill>
                <a:latin typeface="Montserrat"/>
              </a:rPr>
              <a:t>Scotiabank  ·  Toronto Metropolitan University  ·  Carleton University  ·  City of Toronto  ·  Canada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6750" y="16954500"/>
            <a:ext cx="8953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50" b="0" spc="100">
                <a:solidFill>
                  <a:srgbClr val="C9D3EA"/>
                </a:solidFill>
                <a:latin typeface="Montserrat"/>
              </a:rPr>
              <a:t>#AES2026   #FriendsOfAfrica   @friendsofafricafoa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AES 2026 – Panels (Video Template)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