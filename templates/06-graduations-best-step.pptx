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3143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500">
                <a:solidFill>
                  <a:srgbClr val="E3A53B"/>
                </a:solidFill>
                <a:latin typeface="Montserrat"/>
              </a:rPr>
              <a:t>SCALING STRATEGIC AND GLOBAL PARTNERSHIPS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619500"/>
            <a:ext cx="89535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16TH AFRICAN</a:t>
            </a:r>
          </a:p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ECONOMIC SUMMIT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" y="514350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800">
                <a:solidFill>
                  <a:srgbClr val="C9D3EA"/>
                </a:solidFill>
                <a:latin typeface="Montserrat"/>
              </a:rPr>
              <a:t>CANADA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6750" y="7239000"/>
            <a:ext cx="1333500" cy="952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7620000"/>
            <a:ext cx="9144000" cy="400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4250" b="1">
                <a:solidFill>
                  <a:srgbClr val="E3A53B"/>
                </a:solidFill>
                <a:latin typeface="Montserrat"/>
              </a:rPr>
              <a:t>GRADUA-</a:t>
            </a:r>
          </a:p>
          <a:p>
            <a:pPr algn="l">
              <a:lnSpc>
                <a:spcPct val="95000"/>
              </a:lnSpc>
            </a:pPr>
            <a:r>
              <a:rPr sz="14250" b="1">
                <a:solidFill>
                  <a:srgbClr val="E3A53B"/>
                </a:solidFill>
                <a:latin typeface="Montserrat"/>
              </a:rPr>
              <a:t>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11715750"/>
            <a:ext cx="8953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>
                <a:solidFill>
                  <a:srgbClr val="FFFFFF"/>
                </a:solidFill>
                <a:latin typeface="Montserrat"/>
              </a:rPr>
              <a:t>BEST  |  STEP  ·  Class of 2026</a:t>
            </a:r>
          </a:p>
        </p:txBody>
      </p:sp>
      <p:sp>
        <p:nvSpPr>
          <p:cNvPr id="14" name="Diamond 13"/>
          <p:cNvSpPr/>
          <p:nvPr/>
        </p:nvSpPr>
        <p:spPr>
          <a:xfrm>
            <a:off x="66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523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981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4382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18954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3526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28098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2670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7242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814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638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50958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553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60102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64674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9246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73818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78390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82962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87534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9210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9667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10125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6750" y="1543050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15335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39" name="Oval 38"/>
          <p:cNvSpPr/>
          <p:nvPr/>
        </p:nvSpPr>
        <p:spPr>
          <a:xfrm>
            <a:off x="666750" y="1592580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2500" y="158305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6750" y="170497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GRADUATION  ·  BEST / STEP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3335000"/>
            <a:ext cx="152400" cy="23812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5375" y="13287375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E3A53B"/>
                </a:solidFill>
                <a:latin typeface="Montserrat"/>
              </a:rPr>
              <a:t>CLASS OF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13763625"/>
            <a:ext cx="85725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Congratulations, graduates!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15240000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C9D3EA"/>
                </a:solidFill>
                <a:latin typeface="Montserrat"/>
              </a:rPr>
              <a:t>BEST / STEP Program</a:t>
            </a:r>
          </a:p>
        </p:txBody>
      </p:sp>
      <p:sp>
        <p:nvSpPr>
          <p:cNvPr id="11" name="Diamond 10"/>
          <p:cNvSpPr/>
          <p:nvPr/>
        </p:nvSpPr>
        <p:spPr>
          <a:xfrm>
            <a:off x="57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00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742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1085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428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771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2114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2457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800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143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486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8290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71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5148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4857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2006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5543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8864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229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65722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6915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7258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7600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943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8286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8629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8972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9315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9658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10001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10344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GRADUATION  ·  BEST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2668250"/>
            <a:ext cx="9144000" cy="4000500"/>
          </a:xfrm>
          <a:prstGeom prst="roundRect">
            <a:avLst>
              <a:gd name="adj" fmla="val 6000"/>
            </a:avLst>
          </a:prstGeom>
          <a:solidFill>
            <a:srgbClr val="0A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" y="12668250"/>
            <a:ext cx="9144000" cy="1333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314450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500">
                <a:solidFill>
                  <a:srgbClr val="E3A53B"/>
                </a:solidFill>
                <a:latin typeface="Montserrat"/>
              </a:rPr>
              <a:t>GRADUATE  ·  BEST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13620750"/>
            <a:ext cx="81915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Graduate 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15049500"/>
            <a:ext cx="8191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C9D3EA"/>
                </a:solidFill>
                <a:latin typeface="Montserrat"/>
              </a:rPr>
              <a:t>Program: BEST / STEP  ·  Cohort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315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GRADUATION  ·  BEST / 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2190750"/>
            <a:ext cx="1143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0" b="1">
                <a:solidFill>
                  <a:srgbClr val="E3A53B"/>
                </a:solidFill>
                <a:latin typeface="Georgia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3429000"/>
            <a:ext cx="89535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Add a message from a graduate or mentor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6096000"/>
            <a:ext cx="8953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E3A53B"/>
                </a:solidFill>
                <a:latin typeface="Montserrat"/>
              </a:rPr>
              <a:t>— NAME, BEST / STEP GRADUATE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4000500"/>
            <a:ext cx="8953500" cy="314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CONGRATU-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LATIONS,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GRADUATES!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7239000"/>
            <a:ext cx="89535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50" b="1">
                <a:solidFill>
                  <a:srgbClr val="E3A53B"/>
                </a:solidFill>
                <a:latin typeface="Montserrat"/>
              </a:rPr>
              <a:t>BEST | STEP · Class of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8858250"/>
            <a:ext cx="8953500" cy="28575"/>
          </a:xfrm>
          <a:prstGeom prst="rect">
            <a:avLst/>
          </a:prstGeom>
          <a:solidFill>
            <a:srgbClr val="C9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6750" y="942975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93345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13" name="Oval 12"/>
          <p:cNvSpPr/>
          <p:nvPr/>
        </p:nvSpPr>
        <p:spPr>
          <a:xfrm>
            <a:off x="666750" y="992505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98298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10858500"/>
            <a:ext cx="8953500" cy="1428750"/>
          </a:xfrm>
          <a:prstGeom prst="roundRect">
            <a:avLst/>
          </a:prstGeom>
          <a:noFill/>
          <a:ln w="28575">
            <a:solidFill>
              <a:srgbClr val="E3A5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7750" y="1114425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CONNECT.  COLLABORATE.  CREATE IMPACT.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" y="11668125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9D3EA"/>
                </a:solidFill>
                <a:latin typeface="Montserrat"/>
              </a:rPr>
              <a:t>Register &amp; info: link in bio  ·  @friendsofafricafoa</a:t>
            </a:r>
          </a:p>
        </p:txBody>
      </p:sp>
      <p:sp>
        <p:nvSpPr>
          <p:cNvPr id="18" name="Diamond 17"/>
          <p:cNvSpPr/>
          <p:nvPr/>
        </p:nvSpPr>
        <p:spPr>
          <a:xfrm>
            <a:off x="571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419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7810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1143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5049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1866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22288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2590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29527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33147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36766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40386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44005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47625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1244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54864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58483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62103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65722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69342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72961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7658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80200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8382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87439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9105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94678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9829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101917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750" y="13811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spc="600">
                <a:solidFill>
                  <a:srgbClr val="E3A53B"/>
                </a:solidFill>
                <a:latin typeface="Montserrat"/>
              </a:rPr>
              <a:t>IN PARTNERSHIP WITH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1500" y="14382750"/>
            <a:ext cx="9144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2500" y="14668500"/>
            <a:ext cx="8382000" cy="1428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A1A3F"/>
                </a:solidFill>
                <a:latin typeface="Montserrat"/>
              </a:rPr>
              <a:t>Scotiabank  ·  Toronto Metropolitan University  ·  Carleton University  ·  City of Toronto  ·  Canada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750" y="1695450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AES 2026 – Graduations BEST / STEP (Video Template)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