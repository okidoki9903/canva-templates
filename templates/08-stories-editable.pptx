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F2542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34500"/>
            <a:ext cx="10287000" cy="895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99060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1" spc="200">
                <a:solidFill>
                  <a:srgbClr val="0C0C0E"/>
                </a:solidFill>
                <a:latin typeface="Montserrat"/>
              </a:rPr>
              <a:t>FOA 2026</a:t>
            </a:r>
            <a:r>
              <a:rPr sz="2550" b="1" spc="200">
                <a:solidFill>
                  <a:srgbClr val="F2542D"/>
                </a:solidFill>
                <a:latin typeface="Montserra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0572750"/>
            <a:ext cx="85725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9000" b="1">
                <a:solidFill>
                  <a:srgbClr val="0C0C0E"/>
                </a:solidFill>
                <a:latin typeface="Montserrat"/>
              </a:rPr>
              <a:t>WELCOME</a:t>
            </a:r>
          </a:p>
          <a:p>
            <a:pPr algn="l">
              <a:lnSpc>
                <a:spcPct val="92000"/>
              </a:lnSpc>
            </a:pPr>
            <a:r>
              <a:rPr sz="9000" b="1">
                <a:solidFill>
                  <a:srgbClr val="0C0C0E"/>
                </a:solidFill>
                <a:latin typeface="Montserrat"/>
              </a:rPr>
              <a:t>TO FOA 2026</a:t>
            </a:r>
            <a:r>
              <a:rPr sz="9000" b="1">
                <a:solidFill>
                  <a:srgbClr val="F2542D"/>
                </a:solidFill>
                <a:latin typeface="Montserrat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7250" y="13639800"/>
            <a:ext cx="2286000" cy="133350"/>
          </a:xfrm>
          <a:prstGeom prst="rect">
            <a:avLst/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14116050"/>
            <a:ext cx="8572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>
                <a:solidFill>
                  <a:srgbClr val="0C0C0E"/>
                </a:solidFill>
                <a:latin typeface="Montserrat"/>
              </a:rPr>
              <a:t>16th African Economic Summit</a:t>
            </a:r>
          </a:p>
          <a:p>
            <a:pPr algn="l"/>
            <a:r>
              <a:rPr sz="3300" b="0">
                <a:solidFill>
                  <a:srgbClr val="0C0C0E"/>
                </a:solidFill>
                <a:latin typeface="Montserrat"/>
              </a:rPr>
              <a:t>Metro Toronto Convention Centre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1724025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0">
                <a:solidFill>
                  <a:srgbClr val="5C5C62"/>
                </a:solidFill>
                <a:latin typeface="Montserrat"/>
              </a:rPr>
              <a:t>#FOA2026  ·  @friendsofafricafoa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1648C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34500"/>
            <a:ext cx="10287000" cy="895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99060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1" spc="200">
                <a:solidFill>
                  <a:srgbClr val="0C0C0E"/>
                </a:solidFill>
                <a:latin typeface="Montserrat"/>
              </a:rPr>
              <a:t>FOA 2026</a:t>
            </a:r>
            <a:r>
              <a:rPr sz="2550" b="1" spc="200">
                <a:solidFill>
                  <a:srgbClr val="1648C4"/>
                </a:solidFill>
                <a:latin typeface="Montserra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0572750"/>
            <a:ext cx="85725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7200" b="1">
                <a:solidFill>
                  <a:srgbClr val="0C0C0E"/>
                </a:solidFill>
                <a:latin typeface="Montserrat"/>
              </a:rPr>
              <a:t>REGISTRATION</a:t>
            </a:r>
          </a:p>
          <a:p>
            <a:pPr algn="l">
              <a:lnSpc>
                <a:spcPct val="92000"/>
              </a:lnSpc>
            </a:pPr>
            <a:r>
              <a:rPr sz="7200" b="1">
                <a:solidFill>
                  <a:srgbClr val="0C0C0E"/>
                </a:solidFill>
                <a:latin typeface="Montserrat"/>
              </a:rPr>
              <a:t>IS OPEN</a:t>
            </a:r>
            <a:r>
              <a:rPr sz="7200" b="1">
                <a:solidFill>
                  <a:srgbClr val="1648C4"/>
                </a:solidFill>
                <a:latin typeface="Montserrat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7250" y="13087350"/>
            <a:ext cx="2286000" cy="133350"/>
          </a:xfrm>
          <a:prstGeom prst="rect">
            <a:avLst/>
          </a:prstGeom>
          <a:solidFill>
            <a:srgbClr val="164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13563600"/>
            <a:ext cx="8572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>
                <a:solidFill>
                  <a:srgbClr val="0C0C0E"/>
                </a:solidFill>
                <a:latin typeface="Montserrat"/>
              </a:rPr>
              <a:t>Grab your badge</a:t>
            </a:r>
          </a:p>
          <a:p>
            <a:pPr algn="l"/>
            <a:r>
              <a:rPr sz="3300" b="0">
                <a:solidFill>
                  <a:srgbClr val="0C0C0E"/>
                </a:solidFill>
                <a:latin typeface="Montserrat"/>
              </a:rPr>
              <a:t>and come on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1724025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0">
                <a:solidFill>
                  <a:srgbClr val="5C5C62"/>
                </a:solidFill>
                <a:latin typeface="Montserrat"/>
              </a:rPr>
              <a:t>#FOA2026  ·  @friendsofafricafoa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F7BA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34500"/>
            <a:ext cx="10287000" cy="895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99060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1" spc="200">
                <a:solidFill>
                  <a:srgbClr val="0C0C0E"/>
                </a:solidFill>
                <a:latin typeface="Montserrat"/>
              </a:rPr>
              <a:t>FOA 2026</a:t>
            </a:r>
            <a:r>
              <a:rPr sz="2550" b="1" spc="200">
                <a:solidFill>
                  <a:srgbClr val="F7BA00"/>
                </a:solidFill>
                <a:latin typeface="Montserra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0572750"/>
            <a:ext cx="85725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9000" b="1">
                <a:solidFill>
                  <a:srgbClr val="0C0C0E"/>
                </a:solidFill>
                <a:latin typeface="Montserrat"/>
              </a:rPr>
              <a:t>WE'RE</a:t>
            </a:r>
          </a:p>
          <a:p>
            <a:pPr algn="l">
              <a:lnSpc>
                <a:spcPct val="92000"/>
              </a:lnSpc>
            </a:pPr>
            <a:r>
              <a:rPr sz="9000" b="1">
                <a:solidFill>
                  <a:srgbClr val="0C0C0E"/>
                </a:solidFill>
                <a:latin typeface="Montserrat"/>
              </a:rPr>
              <a:t>WAITING</a:t>
            </a:r>
          </a:p>
          <a:p>
            <a:pPr algn="l">
              <a:lnSpc>
                <a:spcPct val="92000"/>
              </a:lnSpc>
            </a:pPr>
            <a:r>
              <a:rPr sz="9000" b="1">
                <a:solidFill>
                  <a:srgbClr val="0C0C0E"/>
                </a:solidFill>
                <a:latin typeface="Montserrat"/>
              </a:rPr>
              <a:t>FOR YOU</a:t>
            </a:r>
            <a:r>
              <a:rPr sz="9000" b="1">
                <a:solidFill>
                  <a:srgbClr val="F7BA00"/>
                </a:solidFill>
                <a:latin typeface="Montserrat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7250" y="15039975"/>
            <a:ext cx="2286000" cy="133350"/>
          </a:xfrm>
          <a:prstGeom prst="rect">
            <a:avLst/>
          </a:prstGeom>
          <a:solidFill>
            <a:srgbClr val="F7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15516225"/>
            <a:ext cx="8572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>
                <a:solidFill>
                  <a:srgbClr val="0C0C0E"/>
                </a:solidFill>
                <a:latin typeface="Montserrat"/>
              </a:rPr>
              <a:t>Metro Toronto Convention Centre</a:t>
            </a:r>
          </a:p>
          <a:p>
            <a:pPr algn="l"/>
            <a:r>
              <a:rPr sz="3300" b="0">
                <a:solidFill>
                  <a:srgbClr val="0C0C0E"/>
                </a:solidFill>
                <a:latin typeface="Montserrat"/>
              </a:rPr>
              <a:t>30 Sept – 03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1724025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0">
                <a:solidFill>
                  <a:srgbClr val="5C5C62"/>
                </a:solidFill>
                <a:latin typeface="Montserrat"/>
              </a:rPr>
              <a:t>#FOA2026  ·  @friendsofafricafoa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1648C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34500"/>
            <a:ext cx="10287000" cy="895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99060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1" spc="200">
                <a:solidFill>
                  <a:srgbClr val="0C0C0E"/>
                </a:solidFill>
                <a:latin typeface="Montserrat"/>
              </a:rPr>
              <a:t>FOA 2026</a:t>
            </a:r>
            <a:r>
              <a:rPr sz="2550" b="1" spc="200">
                <a:solidFill>
                  <a:srgbClr val="1648C4"/>
                </a:solidFill>
                <a:latin typeface="Montserra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0572750"/>
            <a:ext cx="85725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9000" b="1">
                <a:solidFill>
                  <a:srgbClr val="0C0C0E"/>
                </a:solidFill>
                <a:latin typeface="Montserrat"/>
              </a:rPr>
              <a:t>THE PANEL</a:t>
            </a:r>
          </a:p>
          <a:p>
            <a:pPr algn="l">
              <a:lnSpc>
                <a:spcPct val="92000"/>
              </a:lnSpc>
            </a:pPr>
            <a:r>
              <a:rPr sz="9000" b="1">
                <a:solidFill>
                  <a:srgbClr val="0C0C0E"/>
                </a:solidFill>
                <a:latin typeface="Montserrat"/>
              </a:rPr>
              <a:t>HAS STARTED</a:t>
            </a:r>
            <a:r>
              <a:rPr sz="9000" b="1">
                <a:solidFill>
                  <a:srgbClr val="1648C4"/>
                </a:solidFill>
                <a:latin typeface="Montserrat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7250" y="13639800"/>
            <a:ext cx="2286000" cy="133350"/>
          </a:xfrm>
          <a:prstGeom prst="rect">
            <a:avLst/>
          </a:prstGeom>
          <a:solidFill>
            <a:srgbClr val="164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14116050"/>
            <a:ext cx="8572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>
                <a:solidFill>
                  <a:srgbClr val="0C0C0E"/>
                </a:solidFill>
                <a:latin typeface="Montserrat"/>
              </a:rPr>
              <a:t>Add the panel topic here</a:t>
            </a:r>
          </a:p>
          <a:p>
            <a:pPr algn="l"/>
            <a:r>
              <a:rPr sz="3300" b="0">
                <a:solidFill>
                  <a:srgbClr val="0C0C0E"/>
                </a:solidFill>
                <a:latin typeface="Montserrat"/>
              </a:rPr>
              <a:t>Join us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1724025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0">
                <a:solidFill>
                  <a:srgbClr val="5C5C62"/>
                </a:solidFill>
                <a:latin typeface="Montserrat"/>
              </a:rPr>
              <a:t>#FOA2026  ·  @friendsofafricafoa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F2542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34500"/>
            <a:ext cx="10287000" cy="895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99060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1" spc="200">
                <a:solidFill>
                  <a:srgbClr val="0C0C0E"/>
                </a:solidFill>
                <a:latin typeface="Montserrat"/>
              </a:rPr>
              <a:t>FOA 2026</a:t>
            </a:r>
            <a:r>
              <a:rPr sz="2550" b="1" spc="200">
                <a:solidFill>
                  <a:srgbClr val="F2542D"/>
                </a:solidFill>
                <a:latin typeface="Montserra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0572750"/>
            <a:ext cx="85725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9000" b="1">
                <a:solidFill>
                  <a:srgbClr val="0C0C0E"/>
                </a:solidFill>
                <a:latin typeface="Montserrat"/>
              </a:rPr>
              <a:t>COME VISIT</a:t>
            </a:r>
          </a:p>
          <a:p>
            <a:pPr algn="l">
              <a:lnSpc>
                <a:spcPct val="92000"/>
              </a:lnSpc>
            </a:pPr>
            <a:r>
              <a:rPr sz="9000" b="1">
                <a:solidFill>
                  <a:srgbClr val="0C0C0E"/>
                </a:solidFill>
                <a:latin typeface="Montserrat"/>
              </a:rPr>
              <a:t>THE MARKET</a:t>
            </a:r>
          </a:p>
          <a:p>
            <a:pPr algn="l">
              <a:lnSpc>
                <a:spcPct val="92000"/>
              </a:lnSpc>
            </a:pPr>
            <a:r>
              <a:rPr sz="9000" b="1">
                <a:solidFill>
                  <a:srgbClr val="0C0C0E"/>
                </a:solidFill>
                <a:latin typeface="Montserrat"/>
              </a:rPr>
              <a:t>PLACE</a:t>
            </a:r>
            <a:r>
              <a:rPr sz="9000" b="1">
                <a:solidFill>
                  <a:srgbClr val="F2542D"/>
                </a:solidFill>
                <a:latin typeface="Montserrat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7250" y="15039975"/>
            <a:ext cx="2286000" cy="133350"/>
          </a:xfrm>
          <a:prstGeom prst="rect">
            <a:avLst/>
          </a:prstGeom>
          <a:solidFill>
            <a:srgbClr val="F254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15516225"/>
            <a:ext cx="8572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>
                <a:solidFill>
                  <a:srgbClr val="0C0C0E"/>
                </a:solidFill>
                <a:latin typeface="Montserrat"/>
              </a:rPr>
              <a:t>Local brands</a:t>
            </a:r>
          </a:p>
          <a:p>
            <a:pPr algn="l"/>
            <a:r>
              <a:rPr sz="3300" b="0">
                <a:solidFill>
                  <a:srgbClr val="0C0C0E"/>
                </a:solidFill>
                <a:latin typeface="Montserrat"/>
              </a:rPr>
              <a:t>Made in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1724025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0">
                <a:solidFill>
                  <a:srgbClr val="5C5C62"/>
                </a:solidFill>
                <a:latin typeface="Montserrat"/>
              </a:rPr>
              <a:t>#FOA2026  ·  @friendsofafricafoa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1FA34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34500"/>
            <a:ext cx="10287000" cy="895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99060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1" spc="200">
                <a:solidFill>
                  <a:srgbClr val="0C0C0E"/>
                </a:solidFill>
                <a:latin typeface="Montserrat"/>
              </a:rPr>
              <a:t>FOA 2026</a:t>
            </a:r>
            <a:r>
              <a:rPr sz="2550" b="1" spc="200">
                <a:solidFill>
                  <a:srgbClr val="1FA34A"/>
                </a:solidFill>
                <a:latin typeface="Montserra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0572750"/>
            <a:ext cx="85725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7200" b="1">
                <a:solidFill>
                  <a:srgbClr val="0C0C0E"/>
                </a:solidFill>
                <a:latin typeface="Montserrat"/>
              </a:rPr>
              <a:t>THE JOB FAIR</a:t>
            </a:r>
          </a:p>
          <a:p>
            <a:pPr algn="l">
              <a:lnSpc>
                <a:spcPct val="92000"/>
              </a:lnSpc>
            </a:pPr>
            <a:r>
              <a:rPr sz="7200" b="1">
                <a:solidFill>
                  <a:srgbClr val="0C0C0E"/>
                </a:solidFill>
                <a:latin typeface="Montserrat"/>
              </a:rPr>
              <a:t>IS OPEN</a:t>
            </a:r>
            <a:r>
              <a:rPr sz="7200" b="1">
                <a:solidFill>
                  <a:srgbClr val="1FA34A"/>
                </a:solidFill>
                <a:latin typeface="Montserrat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7250" y="13087350"/>
            <a:ext cx="2286000" cy="133350"/>
          </a:xfrm>
          <a:prstGeom prst="rect">
            <a:avLst/>
          </a:prstGeom>
          <a:solidFill>
            <a:srgbClr val="1F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13563600"/>
            <a:ext cx="8572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>
                <a:solidFill>
                  <a:srgbClr val="0C0C0E"/>
                </a:solidFill>
                <a:latin typeface="Montserrat"/>
              </a:rPr>
              <a:t>Bring your CV</a:t>
            </a:r>
          </a:p>
          <a:p>
            <a:pPr algn="l"/>
            <a:r>
              <a:rPr sz="3300" b="0">
                <a:solidFill>
                  <a:srgbClr val="0C0C0E"/>
                </a:solidFill>
                <a:latin typeface="Montserrat"/>
              </a:rPr>
              <a:t>Meet the employers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1724025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0">
                <a:solidFill>
                  <a:srgbClr val="5C5C62"/>
                </a:solidFill>
                <a:latin typeface="Montserrat"/>
              </a:rPr>
              <a:t>#FOA2026  ·  @friendsofafricafoa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F7BA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34500"/>
            <a:ext cx="10287000" cy="895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99060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1" spc="200">
                <a:solidFill>
                  <a:srgbClr val="0C0C0E"/>
                </a:solidFill>
                <a:latin typeface="Montserrat"/>
              </a:rPr>
              <a:t>FOA 2026</a:t>
            </a:r>
            <a:r>
              <a:rPr sz="2550" b="1" spc="200">
                <a:solidFill>
                  <a:srgbClr val="F7BA00"/>
                </a:solidFill>
                <a:latin typeface="Montserra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0572750"/>
            <a:ext cx="85725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9000" b="1">
                <a:solidFill>
                  <a:srgbClr val="0C0C0E"/>
                </a:solidFill>
                <a:latin typeface="Montserrat"/>
              </a:rPr>
              <a:t>STARTING</a:t>
            </a:r>
          </a:p>
          <a:p>
            <a:pPr algn="l">
              <a:lnSpc>
                <a:spcPct val="92000"/>
              </a:lnSpc>
            </a:pPr>
            <a:r>
              <a:rPr sz="9000" b="1">
                <a:solidFill>
                  <a:srgbClr val="0C0C0E"/>
                </a:solidFill>
                <a:latin typeface="Montserrat"/>
              </a:rPr>
              <a:t>SOON</a:t>
            </a:r>
            <a:r>
              <a:rPr sz="9000" b="1">
                <a:solidFill>
                  <a:srgbClr val="F7BA00"/>
                </a:solidFill>
                <a:latin typeface="Montserrat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7250" y="13639800"/>
            <a:ext cx="2286000" cy="133350"/>
          </a:xfrm>
          <a:prstGeom prst="rect">
            <a:avLst/>
          </a:prstGeom>
          <a:solidFill>
            <a:srgbClr val="F7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14116050"/>
            <a:ext cx="8572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>
                <a:solidFill>
                  <a:srgbClr val="0C0C0E"/>
                </a:solidFill>
                <a:latin typeface="Montserrat"/>
              </a:rPr>
              <a:t>Take your seat</a:t>
            </a:r>
          </a:p>
          <a:p>
            <a:pPr algn="l"/>
            <a:r>
              <a:rPr sz="3300" b="0">
                <a:solidFill>
                  <a:srgbClr val="0C0C0E"/>
                </a:solidFill>
                <a:latin typeface="Montserrat"/>
              </a:rPr>
              <a:t>We begin in a few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1724025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0">
                <a:solidFill>
                  <a:srgbClr val="5C5C62"/>
                </a:solidFill>
                <a:latin typeface="Montserrat"/>
              </a:rPr>
              <a:t>#FOA2026  ·  @friendsofafricafoa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ip-placeholder-1648C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9334500"/>
            <a:ext cx="10287000" cy="895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7250" y="9906000"/>
            <a:ext cx="5715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50" b="1" spc="200">
                <a:solidFill>
                  <a:srgbClr val="0C0C0E"/>
                </a:solidFill>
                <a:latin typeface="Montserrat"/>
              </a:rPr>
              <a:t>FOA 2026</a:t>
            </a:r>
            <a:r>
              <a:rPr sz="2550" b="1" spc="200">
                <a:solidFill>
                  <a:srgbClr val="1648C4"/>
                </a:solidFill>
                <a:latin typeface="Montserra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0572750"/>
            <a:ext cx="85725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9000" b="1">
                <a:solidFill>
                  <a:srgbClr val="0C0C0E"/>
                </a:solidFill>
                <a:latin typeface="Montserrat"/>
              </a:rPr>
              <a:t>SEE YOU</a:t>
            </a:r>
          </a:p>
          <a:p>
            <a:pPr algn="l">
              <a:lnSpc>
                <a:spcPct val="92000"/>
              </a:lnSpc>
            </a:pPr>
            <a:r>
              <a:rPr sz="9000" b="1">
                <a:solidFill>
                  <a:srgbClr val="0C0C0E"/>
                </a:solidFill>
                <a:latin typeface="Montserrat"/>
              </a:rPr>
              <a:t>TOMORROW</a:t>
            </a:r>
            <a:r>
              <a:rPr sz="9000" b="1">
                <a:solidFill>
                  <a:srgbClr val="1648C4"/>
                </a:solidFill>
                <a:latin typeface="Montserrat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857250" y="13639800"/>
            <a:ext cx="2286000" cy="133350"/>
          </a:xfrm>
          <a:prstGeom prst="rect">
            <a:avLst/>
          </a:prstGeom>
          <a:solidFill>
            <a:srgbClr val="1648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7250" y="14116050"/>
            <a:ext cx="8572500" cy="1333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300" b="0">
                <a:solidFill>
                  <a:srgbClr val="0C0C0E"/>
                </a:solidFill>
                <a:latin typeface="Montserrat"/>
              </a:rPr>
              <a:t>Metro Toronto Convention Centre</a:t>
            </a:r>
          </a:p>
          <a:p>
            <a:pPr algn="l"/>
            <a:r>
              <a:rPr sz="3300" b="0">
                <a:solidFill>
                  <a:srgbClr val="0C0C0E"/>
                </a:solidFill>
                <a:latin typeface="Montserrat"/>
              </a:rPr>
              <a:t>30 Sept – 03 Oct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1724025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b="0">
                <a:solidFill>
                  <a:srgbClr val="5C5C62"/>
                </a:solidFill>
                <a:latin typeface="Montserrat"/>
              </a:rPr>
              <a:t>#FOA2026  ·  @friendsofafricafoa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